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Разработка макета информационной панели</a:t>
            </a:r>
            <a:br/>
            <a:r>
              <a:t>для анализа эффективности маркетплейса Ozon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3366"/>
                </a:solidFill>
              </a:defRPr>
            </a:pPr>
            <a:r>
              <a:t>Контрольная работа по дисциплине «Методы визуализации данных»</a:t>
            </a:r>
            <a:br/>
            <a:br/>
            <a:r>
              <a:t>Выполнил: [Ваше ФИО]</a:t>
            </a:r>
            <a:br/>
            <a:r>
              <a:t>Группа: [номер группы]</a:t>
            </a:r>
            <a:br/>
            <a:r>
              <a:t>Финансовый университет при Правительстве РФ</a:t>
            </a:r>
            <a:br/>
            <a:r>
              <a:t>Краснодар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О компании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Ozon Holdings PLC (ПАО «Озон», MOEX: OZON) — крупнейший российский маркетплейс, основанный в 1998 году.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Компания занимает лидирующие позиции в сегменте электронной коммерции России и стран СНГ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Предоставляет платформу для продаж товаров и услуг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Развивает экосистему цифровой торговли, объединяющую покупателей, продавцов и логистические сервисы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Стратегическая цель — укрепление лидерства на рынке через масштабирование инфраструктуры, развитие технологий и повышение операционной эффективности.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Миссия компании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Миссия Ozon — создать экосистему цифровой торговли, объединяющую покупателей, продавцов и логистические сервисы на единой технологичной платформе.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Основные задачи: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Расширение ассортимента и аудитории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Развитие логистической инфраструктуры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Повышение операционной эффективности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Достижение устойчивой положительной EBITDA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Оптимизация unit-экономики при росте объёмов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Перечень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Для оценки эффективности деятельности Ozon Holdings PLC выбраны следующие показатели: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GMV (Gross Merchandise Value) — общий товарооборот платформы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Количество заказов — объём транзакций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Выручка — монетизация платформы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Активные покупатели — размер аудитории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Adj EBITDA — операционная прибыльность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AOV (Average Order Value) — средний чек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Take rate — уровень комиссии/монетизации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Численность персонала — масштаб организации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Выручка на 1 сотрудника — производительность труда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Ключевые показатели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Динамика основных метрик Ozon (2020–2024):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GMV: 197,4 → 2 874,7 млрд ₽ (+14,6×)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Заказы: 73,9 → 1 471,0 млн шт. (+19,9×)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Выручка: 104,4 → 615,7 млрд ₽ (+5,9×)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Активные покупатели: 13,8 → 56,5 млн чел. (+4,1×)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Adj EBITDA: −11,7 → +40,1 млрд ₽ (прибыль с 2023)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Сотрудники: 14 834 → 62 000 чел. (+318%)</a:t>
            </a:r>
          </a:p>
        </p:txBody>
      </p:sp>
      <p:pic>
        <p:nvPicPr>
          <p:cNvPr id="5" name="Picture 4" descr="new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5303520" cy="14654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GMV и количество заказов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Комбинированный график демонстрирует синхронный рост GMV и заказов.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GMV вырос в 14,6 раза за 5 лет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Заказы увеличились в 19,9 раза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Корреляция r = 0,998 — рост товарооборота обеспечивается увеличением транзакций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Гипотеза H₁ подтверждена: рост GMV напрямую связан с ростом числа заказов.</a:t>
            </a:r>
          </a:p>
        </p:txBody>
      </p:sp>
      <p:pic>
        <p:nvPicPr>
          <p:cNvPr id="5" name="Picture 4" descr="newplot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1825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Выручка и Take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График показывает рост выручки на фоне снижения take rate.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Выручка: 104,4 → 615,7 млрд ₽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Take rate снизился с 52,89% до 21,42%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Корреляция GMV×Выручка r = 0,995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Гипотеза H₂ подтверждена: монетизация растёт пропорционально обороту при снижении take rate.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Стратегия масштабирования — снижение unit-экономики в пользу роста объёмов и доли рынка.</a:t>
            </a:r>
          </a:p>
        </p:txBody>
      </p:sp>
      <p:pic>
        <p:nvPicPr>
          <p:cNvPr id="5" name="Picture 4" descr="newplot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1825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Adj EBITDA и EBITDA Margin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Визуализация перехода от убытков к прибыли.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2020: −11,7 млрд ₽ (−11,2%)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2021: −41,2 млрд ₽ (−23,1%) — пик инвестиций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2022: −3,2 млрд ₽ (−1,2%)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2023: +6,4 млрд ₽ (+1,5%) — точка безубыточности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2024: +40,1 млрд ₽ (+6,5%)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Гипотеза H₃ подтверждена: компания достигла операционной прибыльности.</a:t>
            </a:r>
          </a:p>
        </p:txBody>
      </p:sp>
      <p:pic>
        <p:nvPicPr>
          <p:cNvPr id="5" name="Picture 4" descr="newplot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1825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Активные покупатели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Рост аудитории и метрики на 1 покупателя.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Активные покупатели: 13,8 → 56,5 млн чел.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Выручка на покупателя: 7,6 → 10,9 тыс. ₽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Заказов на покупателя: 5,4 → 26,0 шт.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GMV на покупателя: 14,3 → 50,9 тыс. ₽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Рост вовлечённости покупателей свидетельствует об эффективности маркетинга и UX.</a:t>
            </a:r>
          </a:p>
        </p:txBody>
      </p:sp>
      <p:pic>
        <p:nvPicPr>
          <p:cNvPr id="5" name="Picture 4" descr="newplot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16426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Темпы роста ключевых показателей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Динамика YoY роста (2021–2024):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2021: пиковые темпы роста (GMV +127%, заказы +202%)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2022–2023: стабилизация роста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2024: умеренные темпы (GMV +64%, заказы +52%)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Снижение темпов роста — естественная стадия зрелости бизнеса при увеличении базы.</a:t>
            </a:r>
          </a:p>
        </p:txBody>
      </p:sp>
      <p:pic>
        <p:nvPicPr>
          <p:cNvPr id="5" name="Picture 4" descr="newplot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1825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Средний чек заказа (AOV)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Динамика среднего чека: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2020: 2 671 ₽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2021: 2 008 ₽ (−24,8%)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2022: 1 788 ₽ (−11,0%)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2023: 1 815 ₽ (+1,5%)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2024: 1 954 ₽ (+7,7%)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Снижение AOV отражает смещение спроса в сторону товаров повседневного спроса — типичная стратегия масштабирования.</a:t>
            </a:r>
          </a:p>
        </p:txBody>
      </p:sp>
      <p:pic>
        <p:nvPicPr>
          <p:cNvPr id="5" name="Picture 4" descr="newplot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16426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Корреляционная матрица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Взаимосвязи между ключевыми показателями: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GMV × Заказы: r = 0,998 — очень сильная прямая связь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GMV × Выручка: r = 0,995 — монетизация следует за оборотом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GMV × Покупатели: r = 0,987 — рост аудитории драйвит оборот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AOV отрицательно коррелирует с остальными метриками — подтверждение стратегии масштабирования через снижение чека</a:t>
            </a:r>
          </a:p>
        </p:txBody>
      </p:sp>
      <p:pic>
        <p:nvPicPr>
          <p:cNvPr id="5" name="Picture 4" descr="newplot(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Дашборд персонала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Анализ численности и производительности персонала: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Численность: 14 834 → 62 000 чел. (+318%)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Выручка на сотрудника: 7,0 → 9,9 млн ₽ (+41%)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GMV на сотрудника: 13,3 → 46,4 млн ₽ (+248%)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Заказов на сотрудника: 4 982 → 23 726 шт. (+376%)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Гипотеза H₄ подтверждена: рост персонала сопровождается ростом производительности труда.</a:t>
            </a:r>
          </a:p>
        </p:txBody>
      </p:sp>
      <p:pic>
        <p:nvPicPr>
          <p:cNvPr id="5" name="Picture 4" descr="newplot(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943600" cy="27681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1. Масштабный рост платформы: GMV вырос в 14,6 раз, заказы — в 19,9 раз, аудитория — в 4,1 раза.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2. Все гипотезы подтверждены: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H₁: GMV и заказы коррелируют с r = 0,998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H₂: GMV и выручка коррелируют с r = 0,995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H₃: Компания достигла операционной прибыльности с 2023 г.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H₄: Рост персонала сопровождается ростом производительности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3. Стратегия масштабирования: снижение take rate и AOV в пользу роста объёмов.</a:t>
            </a: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 algn="l"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4. Разработан макет информационной панели с 9 интерактивными визуализациями.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6F0FA"/>
                </a:solidFill>
              </a:defRPr>
            </a:pPr>
            <a: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